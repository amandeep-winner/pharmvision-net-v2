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9"/>
    <p:sldId id="280" r:id="rId8"/>
    <p:sldId id="281" r:id="rId7"/>
    <p:sldId id="282" r:id="rId6"/>
    <p:sldId id="283" r:id="rId5"/>
    <p:sldId id="271" r:id="rId17"/>
  </p:sldIdLst>
  <p:notesMasterIdLst>
    <p:notesMasterId r:id="rId1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868680" cy="8686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"/>
            <a:ext cx="868680" cy="8229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" y="16459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M. Visvesvaraya Institute of Technology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1143000" y="5669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- 562157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1143000" y="786384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AICTE | Affiliated to VTU Belagavi | Accredited by NAAC 'A' Grade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182880" y="1170432"/>
            <a:ext cx="877824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74320" y="1325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Artificial Intelligence and Machine Learning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274320" y="19659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Learning: Group Project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6F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Title : 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Handwritten Prescription Recognition Using OCR and Deep Learning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25196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Singh - 1MV23AI005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Anijesh Kumar - 1MV23AI007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 Mehta - 1MV23AI019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4297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Lavanya S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AIML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06/10/2026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2026 - 2027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06/10/2026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2026 - 2027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6012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and Objectives of the work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and algorithm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and techniques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6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8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9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000000"/>
                </a:solidFill>
                <a:latin typeface="Bookman Old Style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822960"/>
            <a:ext cx="4114800" cy="278892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822960"/>
            <a:ext cx="4114800" cy="38404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877824"/>
            <a:ext cx="3886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Clinical Challenge: Illegible Prescriptions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1316736"/>
            <a:ext cx="387705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Times New Roman"/>
              </a:rPr>
              <a:t>Handwritten prescriptions are still common, and cursive medicine names are hard to read.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Times New Roman"/>
              </a:rPr>
              <a:t>Misreading one drug name for another can cause dispensing errors and patient harm.</a:t>
            </a:r>
          </a:p>
          <a:p>
            <a:pPr algn="l" marL="182880" indent="-182880">
              <a:spcAft>
                <a:spcPts val="0"/>
              </a:spcAft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Times New Roman"/>
              </a:rPr>
              <a:t>Printed-text OCR engines such as Tesseract fail on joined, irregular doctor handwriting.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822960"/>
            <a:ext cx="4114800" cy="278892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822960"/>
            <a:ext cx="4114800" cy="3840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877824"/>
            <a:ext cx="3886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Our Solution: OCR vs. CNN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1316736"/>
            <a:ext cx="387705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Times New Roman"/>
              </a:rPr>
              <a:t>Build an OCR pipeline: OpenCV text regions, Tesseract, and fuzzy matching to 78 medicine names.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Times New Roman"/>
              </a:rPr>
              <a:t>Train and compare 3 CNNs: ResNet-50, DenseNet-121, and an ElasticNet-regularized CNN.</a:t>
            </a:r>
          </a:p>
          <a:p>
            <a:pPr algn="l" marL="182880" indent="-182880">
              <a:spcAft>
                <a:spcPts val="0"/>
              </a:spcAft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Times New Roman"/>
              </a:rPr>
              <a:t>Extract drug, dosage, and frequency entities from full prescriptions as structured JSON.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794760"/>
            <a:ext cx="8412480" cy="23317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679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C59"/>
                </a:solidFill>
                <a:latin typeface="Calibri"/>
              </a:rPr>
              <a:t>Two Kaggle Datasets Used (Dataset A = 4,680 Labelled Word Images | Dataset B = 129 Prescriptions)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06240"/>
            <a:ext cx="1947672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206240"/>
            <a:ext cx="1947672" cy="36576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4261104"/>
            <a:ext cx="1801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1. Train Split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663440"/>
            <a:ext cx="1764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Handwritten medicine-name word images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5504688"/>
            <a:ext cx="1728216" cy="329184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762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5559552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F2C59"/>
                </a:solidFill>
                <a:latin typeface="Calibri"/>
              </a:rPr>
              <a:t>3,120 images | 40 / class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4206240"/>
            <a:ext cx="1947672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0" y="4206240"/>
            <a:ext cx="1947672" cy="3657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33472" y="4261104"/>
            <a:ext cx="1801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2. Validation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663440"/>
            <a:ext cx="1764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Used only for checkpoint selection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70048" y="5504688"/>
            <a:ext cx="1728216" cy="32918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 w="762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88336" y="5559552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284C7"/>
                </a:solidFill>
                <a:latin typeface="Calibri"/>
              </a:rPr>
              <a:t>780 images | 10 / class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17720" y="4206240"/>
            <a:ext cx="1947672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4206240"/>
            <a:ext cx="1947672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0872" y="4261104"/>
            <a:ext cx="1801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3. Test Split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59" y="4663440"/>
            <a:ext cx="1764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Held out for final evaluation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27448" y="5504688"/>
            <a:ext cx="1728216" cy="329184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 w="76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45736" y="5559552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780 images | 10 / class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4206240"/>
            <a:ext cx="1947672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75120" y="4206240"/>
            <a:ext cx="1947672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8272" y="4261104"/>
            <a:ext cx="1801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4. Full Prescriptions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59" y="4663440"/>
            <a:ext cx="1764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Unlabelled Dataset B for OCR + NER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84848" y="5504688"/>
            <a:ext cx="1728216" cy="329184"/>
          </a:xfrm>
          <a:prstGeom prst="roundRect">
            <a:avLst>
              <a:gd name="adj" fmla="val 15000"/>
            </a:avLst>
          </a:prstGeom>
          <a:solidFill>
            <a:srgbClr val="FFFBEB"/>
          </a:solidFill>
          <a:ln w="76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03136" y="5559552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D97706"/>
                </a:solidFill>
                <a:latin typeface="Calibri"/>
              </a:rPr>
              <a:t>129 images | 60 processed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000000"/>
                </a:solidFill>
                <a:latin typeface="Bookman Old Style"/>
              </a:rPr>
              <a:t>Literature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8412480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94560"/>
                <a:gridCol w="29260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anchor="ctr" marL="64008" marR="64008" marT="27432" marB="27432">
                    <a:solidFill>
                      <a:srgbClr val="0F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Authors (Year)</a:t>
                      </a:r>
                    </a:p>
                  </a:txBody>
                  <a:tcPr anchor="ctr" marL="64008" marR="64008" marT="27432" marB="27432">
                    <a:solidFill>
                      <a:srgbClr val="0F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anchor="ctr" marL="64008" marR="64008" marT="27432" marB="27432">
                    <a:solidFill>
                      <a:srgbClr val="0F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anchor="ctr" marL="64008" marR="64008" marT="27432" marB="27432">
                    <a:solidFill>
                      <a:srgbClr val="0F2C5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[1]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Plamondon &amp; Srihari (2000)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Survey of on-line and off-line handwriting recognition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Explains why cursive is hard to segment; holistic word recognition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[2]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Smith (2007)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Tesseract OCR engine architecture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Open-source OCR used as our baseline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[3]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Graves et al. (2006)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Connectionist Temporal Classification (CTC)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Sequence labelling without character segmentation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[4]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Shi et al. (2017)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CRNN: CNN + RNN + CTC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End-to-end word recognition with an open vocabulary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[5]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Li et al. (2023)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TrOCR: Transformer encoder-decoder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OCR with strong results on IAM handwriting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[6]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He et al. (2016)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ResNet: residual skip connections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Deep backbone; our best model (ResNet-50)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[7]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Huang et al. (2017)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DenseNet: dense connectivity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Feature reuse with fewer parameters (DenseNet-121)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[8]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Zou &amp; Hastie (2005)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Elastic net (L1 + L2) regularization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Penalty used in our from-scratch CNN</a:t>
                      </a:r>
                    </a:p>
                  </a:txBody>
                  <a:tcPr anchor="ctr" marL="64008" marR="64008" marT="27432" marB="27432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230368"/>
            <a:ext cx="8412480" cy="932688"/>
          </a:xfrm>
          <a:prstGeom prst="rect">
            <a:avLst/>
          </a:prstGeom>
          <a:solidFill>
            <a:srgbClr val="EEF2FF"/>
          </a:solidFill>
          <a:ln w="1270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5230368"/>
            <a:ext cx="128016" cy="93268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321808"/>
            <a:ext cx="802843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C59"/>
                </a:solidFill>
                <a:latin typeface="Calibri"/>
              </a:rPr>
              <a:t>Research Gap Addressed:  </a:t>
            </a:r>
            <a:r>
              <a:rPr sz="1250" b="0">
                <a:solidFill>
                  <a:srgbClr val="0F172A"/>
                </a:solidFill>
                <a:latin typeface="Times New Roman"/>
              </a:rPr>
              <a:t>Most prescription-recognition studies report one method on private data. Our work benchmarks a classical Tesseract + fuzzy-match OCR pipeline against three CNN classifiers (ResNet-50, DenseNet-121, ElasticNet CNN) on the same 78-class test set and reports the results honestly as baselines.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000000"/>
                </a:solidFill>
                <a:latin typeface="Bookman Old Style"/>
              </a:rPr>
              <a:t>Problem Statement and Objectives of the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777240"/>
            <a:ext cx="841248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777240"/>
            <a:ext cx="128016" cy="1627632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841248"/>
            <a:ext cx="8028431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2C59"/>
                </a:solidFill>
                <a:latin typeface="Calibri"/>
              </a:rPr>
              <a:t>Problem Statement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Times New Roman"/>
              </a:rPr>
              <a:t>Doctors' handwritten prescriptions are often hard to read: letters are joined or abbreviated, and many medicine names differ by only a few characters. Pharmacists must interpret them by hand, which is slow and error-prone, and printed-text OCR engines return mostly noise on cursive writing. There is a clear need for a pipeline that reads handwritten medicine names, maps them to a known vocabulary, extracts dosage and frequency, and reports measured accuracy on unseen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2514600"/>
            <a:ext cx="8412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D9488"/>
                </a:solidFill>
                <a:latin typeface="Calibri"/>
              </a:rPr>
              <a:t>Core Objectives of the Work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2852928"/>
            <a:ext cx="1993392" cy="1517904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397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2852928"/>
            <a:ext cx="1993392" cy="329184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898648"/>
            <a:ext cx="1847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OBJ 01: 78-Class Recognition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273552"/>
            <a:ext cx="1810512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Recognize handwritten medicine names from a vocabulary of 78 medicines.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05456" y="2852928"/>
            <a:ext cx="1993392" cy="1517904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 w="1397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05456" y="2852928"/>
            <a:ext cx="1993392" cy="32918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78608" y="2898648"/>
            <a:ext cx="1847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OBJ 02: Two Kaggle Datasets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6896" y="3273552"/>
            <a:ext cx="1810512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Use 4,680 labelled word images and 129 full prescription images.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45152" y="2852928"/>
            <a:ext cx="1993392" cy="1517904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5152" y="2852928"/>
            <a:ext cx="1993392" cy="32918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2898648"/>
            <a:ext cx="1847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OBJ 03: Fixed Data Splits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36592" y="3273552"/>
            <a:ext cx="1810512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Keep the given 3,120 train, 780 validation, and 780 test split untouched.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84848" y="2852928"/>
            <a:ext cx="1993392" cy="151790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397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84848" y="2852928"/>
            <a:ext cx="1993392" cy="3291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2898648"/>
            <a:ext cx="1847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OBJ 04: OCR Pipeline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3273552"/>
            <a:ext cx="1810512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Detect text regions with OpenCV and read them with Tesseract (PSM 6).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4517136"/>
            <a:ext cx="1993392" cy="151790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397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4517136"/>
            <a:ext cx="1993392" cy="3291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4562856"/>
            <a:ext cx="1847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OBJ 05: Fuzzy Matching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937760"/>
            <a:ext cx="1810512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Map OCR text to the closest medicine name with RapidFuzz (score ≥ 75).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05456" y="4517136"/>
            <a:ext cx="1993392" cy="15179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397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05456" y="4517136"/>
            <a:ext cx="1993392" cy="32918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78608" y="4562856"/>
            <a:ext cx="1847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OBJ 06: 3-Model Benchmark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96896" y="4937760"/>
            <a:ext cx="1810512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Compare ResNet-50, DenseNet-121, and an ElasticNet-regularized CNN.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645152" y="4517136"/>
            <a:ext cx="1993392" cy="1517904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45152" y="4517136"/>
            <a:ext cx="1993392" cy="32918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4562856"/>
            <a:ext cx="1847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OBJ 07: Entity Extraction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36592" y="4937760"/>
            <a:ext cx="1810512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Tag DRUG, DOSAGE, and FREQUENCY entities and save them as JSON.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784848" y="4517136"/>
            <a:ext cx="1993392" cy="1517904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397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784848" y="4517136"/>
            <a:ext cx="1993392" cy="329184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0" y="4562856"/>
            <a:ext cx="1847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OBJ 08: Honest Evaluation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76288" y="4937760"/>
            <a:ext cx="1810512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Report accuracy, macro F1, ROC-AUC, and confusion matrices on test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00000"/>
                </a:solidFill>
                <a:latin typeface="Bookman Old Style"/>
              </a:rPr>
              <a:t>Methodology and Algorithm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75569"/>
                </a:solidFill>
                <a:latin typeface="Calibri"/>
              </a:rPr>
              <a:t>End-to-End 5-Stage Prescription Recognition Pipeline (From Raw Images to Medicine Name)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078992"/>
            <a:ext cx="1536192" cy="37947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651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1078992"/>
            <a:ext cx="1536192" cy="566928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1133856"/>
            <a:ext cx="14264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STAGE 1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Data Loading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" y="1773936"/>
            <a:ext cx="1371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Auto-detect both Kaggle datasets and read the train/val/test label CSVs plus mapping.json (name → class id).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389120"/>
            <a:ext cx="138988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43984"/>
            <a:ext cx="13533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F2C59"/>
                </a:solidFill>
                <a:latin typeface="Calibri"/>
              </a:rPr>
              <a:t>4,680 + 129 images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929384" y="2862072"/>
            <a:ext cx="128016" cy="274320"/>
          </a:xfrm>
          <a:prstGeom prst="rightArrow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84831" y="1078992"/>
            <a:ext cx="1536192" cy="379476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651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84831" y="1078992"/>
            <a:ext cx="1536192" cy="5669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39696" y="1133856"/>
            <a:ext cx="14264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STAGE 2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67127" y="1773936"/>
            <a:ext cx="1371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Grayscale + bilateral filter for OCR; resize to 224×224 with ImageNet normalization and light augmentation for CNNs.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57984" y="4389120"/>
            <a:ext cx="138988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76272" y="4443984"/>
            <a:ext cx="13533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284C7"/>
                </a:solidFill>
                <a:latin typeface="Calibri"/>
              </a:rPr>
              <a:t>224×224×3 tensors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648456" y="2862072"/>
            <a:ext cx="128016" cy="274320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03904" y="1078992"/>
            <a:ext cx="1536192" cy="379476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651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03904" y="1078992"/>
            <a:ext cx="1536192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1133856"/>
            <a:ext cx="14264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STAGE 3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OCR + Matching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1773936"/>
            <a:ext cx="1371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Find text regions (adaptive threshold + dilation), read them with Tesseract, and fuzzy-match to 78 medicine names.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77056" y="4389120"/>
            <a:ext cx="138988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95344" y="4443984"/>
            <a:ext cx="13533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Match score ≥ 75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367528" y="2862072"/>
            <a:ext cx="128016" cy="274320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22976" y="1078992"/>
            <a:ext cx="1536192" cy="37947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1078992"/>
            <a:ext cx="1536192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0" y="1133856"/>
            <a:ext cx="14264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STAGE 4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CNN Training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05272" y="1773936"/>
            <a:ext cx="1371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Train new 78-way heads on frozen ResNet-50 and DenseNet-121, plus a scratch CNN with an ElasticNet penalty.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96128" y="4389120"/>
            <a:ext cx="138988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14416" y="4443984"/>
            <a:ext cx="13533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4F46E5"/>
                </a:solidFill>
                <a:latin typeface="Calibri"/>
              </a:rPr>
              <a:t>3 Epochs, AdamW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086600" y="2862072"/>
            <a:ext cx="128016" cy="274320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42048" y="1078992"/>
            <a:ext cx="1536192" cy="379476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651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42048" y="1078992"/>
            <a:ext cx="1536192" cy="5669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96912" y="1133856"/>
            <a:ext cx="14264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STAGE 5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24344" y="1773936"/>
            <a:ext cx="1371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Compute accuracy, macro F1, macro ROC-AUC, and confusion matrices on 780 test images; save CSV and JSON.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0" y="4389120"/>
            <a:ext cx="138988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33488" y="4443984"/>
            <a:ext cx="13533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D97706"/>
                </a:solidFill>
                <a:latin typeface="Calibri"/>
              </a:rPr>
              <a:t>0.72 Best AUC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5047488"/>
            <a:ext cx="8412480" cy="10972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5102352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2C59"/>
                </a:solidFill>
                <a:latin typeface="Calibri"/>
              </a:rPr>
              <a:t>Dataset Partition &amp; Loader Configuration Across All 4,680 Labelled Word Images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413248"/>
            <a:ext cx="5120640" cy="585216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Training Set (train_loader): 3,120 Images (66.7%)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Batch Size = 32 | Resize = 224×224 | Rotation 8°, Flip, Color Jitter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87568" y="5413248"/>
            <a:ext cx="1463040" cy="5852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Validation (val_loader)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780 (16.7%) | Batch=32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14616" y="5413248"/>
            <a:ext cx="1426464" cy="5852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Testing (test_loader)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780 (16.7%) | Batch=32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00000"/>
                </a:solidFill>
                <a:latin typeface="Bookman Old Style"/>
              </a:rPr>
              <a:t>Methodology: System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822960"/>
            <a:ext cx="1874519" cy="466344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651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822960"/>
            <a:ext cx="1874519" cy="475488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877824"/>
            <a:ext cx="17647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1. DATA LAYER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Kaggle Input Folders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1463040"/>
            <a:ext cx="16550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Dataset A (Processed)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78 Classes, 4,680 Images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2423160"/>
            <a:ext cx="16550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Label CSVs + Mapping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IMAGE → Medicine Class 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3383280"/>
            <a:ext cx="16550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Dataset B (Raw Rx)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129 Unlabelled Prescriptions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43400"/>
            <a:ext cx="16550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Train: 3,120 | Val: 780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Unseen Test: 780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286000" y="2971800"/>
            <a:ext cx="201168" cy="329184"/>
          </a:xfrm>
          <a:prstGeom prst="rightArrow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32888" y="822960"/>
            <a:ext cx="1874519" cy="466344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651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32888" y="822960"/>
            <a:ext cx="1874519" cy="47548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87752" y="877824"/>
            <a:ext cx="17647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2. PREPROCESSING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OpenCV &amp; torchvision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42616" y="1463040"/>
            <a:ext cx="16550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OCR Denoising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Grayscale + Bilateral Filter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42616" y="2423160"/>
            <a:ext cx="16550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Text-Region Detection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Adaptive Threshold + Dilation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42616" y="3383280"/>
            <a:ext cx="16550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CNN Resizing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224 × 224 × 3 RGB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42616" y="4343400"/>
            <a:ext cx="16550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Data Augmentation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Rotate 8°, Flip, Jitter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453128" y="2971800"/>
            <a:ext cx="201168" cy="329184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00016" y="822960"/>
            <a:ext cx="1965960" cy="466344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00016" y="822960"/>
            <a:ext cx="196596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0" y="877824"/>
            <a:ext cx="185623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3. RECOGNITION MODELS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OCR + Transfer Learning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09744" y="1463040"/>
            <a:ext cx="1746504" cy="749808"/>
          </a:xfrm>
          <a:prstGeom prst="round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Tesseract OCR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OEM 3, PSM 6 + RapidFuzz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09744" y="2423160"/>
            <a:ext cx="1746504" cy="74980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ResNet-50 Backbone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Residual Skip Connections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09744" y="3383280"/>
            <a:ext cx="1746504" cy="749808"/>
          </a:xfrm>
          <a:prstGeom prst="round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DenseNet-121 Backbone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Dense Feature Reuse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09744" y="4343400"/>
            <a:ext cx="1746504" cy="74980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ElasticNet CNN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4 Conv Blocks, L1 + L2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6711696" y="2971800"/>
            <a:ext cx="201168" cy="329184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58584" y="822960"/>
            <a:ext cx="1828800" cy="466344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651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58584" y="822960"/>
            <a:ext cx="182880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13448" y="877824"/>
            <a:ext cx="17190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4. CLASSIFIER HEAD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Custom 78-Way Head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68312" y="1463040"/>
            <a:ext cx="160934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Dropout(0.30)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Prevent Overfitting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68312" y="2423160"/>
            <a:ext cx="160934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Linear(→ 78)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One Logit per Medicine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68312" y="3383280"/>
            <a:ext cx="160934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Softmax / Fuzzy Score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Medicine Probabilities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68312" y="4343400"/>
            <a:ext cx="160934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Visual Output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JSON Entities + Dashboard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5623560"/>
            <a:ext cx="8421624" cy="502920"/>
          </a:xfrm>
          <a:prstGeom prst="roundRect">
            <a:avLst>
              <a:gd name="adj" fmla="val 12000"/>
            </a:avLst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5724144"/>
            <a:ext cx="8138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Training Setup:   Optimizer = AdamW (LR = 2e-4 / 5e-4)   |   Loss = Cross-Entropy   |   Epochs = 3   |   Input = 224×224×3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00000"/>
                </a:solidFill>
                <a:latin typeface="Bookman Old Style"/>
              </a:rPr>
              <a:t>Methodology: Deep Learning Algorithms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804672"/>
            <a:ext cx="8412480" cy="1417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859536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2C59"/>
                </a:solidFill>
                <a:latin typeface="Calibri"/>
              </a:rPr>
              <a:t>Classifier Pipeline for ResNet-50 / DenseNet-121 (Exact PyTorch Head Used in Code)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1188720"/>
            <a:ext cx="1024128" cy="877824"/>
          </a:xfrm>
          <a:prstGeom prst="round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Input Image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224×224×3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517904" y="1517904"/>
            <a:ext cx="128016" cy="219456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64208" y="1188720"/>
            <a:ext cx="1024128" cy="877824"/>
          </a:xfrm>
          <a:prstGeom prst="round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CNN Base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ImageNet TL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706624" y="1517904"/>
            <a:ext cx="128016" cy="219456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52928" y="1188720"/>
            <a:ext cx="1024128" cy="877824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Global Pool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1D Vector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3895344" y="1517904"/>
            <a:ext cx="128016" cy="219456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41648" y="1188720"/>
            <a:ext cx="1024128" cy="877824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Dropout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rate = 0.30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084064" y="1517904"/>
            <a:ext cx="128016" cy="219456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30368" y="1188720"/>
            <a:ext cx="1024128" cy="87782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Linear 78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Class Logits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272784" y="1517904"/>
            <a:ext cx="128016" cy="219456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9088" y="1188720"/>
            <a:ext cx="1024128" cy="877824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Softmax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Probabilities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7461504" y="1517904"/>
            <a:ext cx="128016" cy="219456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07808" y="1188720"/>
            <a:ext cx="1024128" cy="877824"/>
          </a:xfrm>
          <a:prstGeom prst="round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Argmax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Medicine Name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23591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C59"/>
                </a:solidFill>
                <a:latin typeface="Calibri"/>
              </a:rPr>
              <a:t>How the 3 CNN Models and the OCR Baseline Read Handwriting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2670048"/>
            <a:ext cx="2395728" cy="1609344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397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2670048"/>
            <a:ext cx="2395728" cy="329184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2715768"/>
            <a:ext cx="22494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1. ResNet-50 (Best AUC 0.72)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3054096"/>
            <a:ext cx="224942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Residual skip connections (F(x) + x) give deep ImageNet features; only the 159,822-parameter head was trained.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80360" y="2670048"/>
            <a:ext cx="2395728" cy="1609344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80360" y="2670048"/>
            <a:ext cx="2395728" cy="32918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53512" y="2715768"/>
            <a:ext cx="22494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2. DenseNet-121 (AUC 0.65)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53512" y="3054096"/>
            <a:ext cx="224942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Dense blocks reuse earlier feature maps; a 1,024-feature output feeds a 79,950-parameter head.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4407408"/>
            <a:ext cx="2395728" cy="1609344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397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4407408"/>
            <a:ext cx="2395728" cy="32918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4453128"/>
            <a:ext cx="22494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3. ElasticNet CNN (AUC 0.56)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" y="4791456"/>
            <a:ext cx="224942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Four conv blocks (32 to 256 filters) trained from scratch with an L1 + L2 penalty on 40 images per class.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80360" y="4407408"/>
            <a:ext cx="2395728" cy="1609344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397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80360" y="4407408"/>
            <a:ext cx="2395728" cy="3291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53512" y="4453128"/>
            <a:ext cx="22494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4. Tesseract OCR (3.1% Acc)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53512" y="4791456"/>
            <a:ext cx="224942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LSTM-based printed-text OCR plus fuzzy matching; cursive handwriting mostly comes out as noise text.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40680" y="2359152"/>
            <a:ext cx="3337560" cy="3749039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651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0680" y="2359152"/>
            <a:ext cx="3337560" cy="384048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59552" y="24231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Core Mathematical Equations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577840" y="2852928"/>
            <a:ext cx="3063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50992" y="2898648"/>
            <a:ext cx="2907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1. Softmax Output Layer (78 Classes)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2C59"/>
                </a:solidFill>
                <a:latin typeface="Cambria"/>
              </a:rPr>
              <a:t>P(y = k | x) = exp(z_k) / ∑ exp(z_j)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Times New Roman"/>
              </a:rPr>
              <a:t>Converts raw class logits z_k into probabilities summing to 1.0.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577840" y="3895344"/>
            <a:ext cx="3063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50992" y="3941063"/>
            <a:ext cx="2907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284C7"/>
                </a:solidFill>
                <a:latin typeface="Calibri"/>
              </a:rPr>
              <a:t>2. Cross-Entropy + ElasticNet Penalty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2C59"/>
                </a:solidFill>
                <a:latin typeface="Cambria"/>
              </a:rPr>
              <a:t>L = - log P(y | x) + λ1 ∑|w| + λ2 ∑w²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Times New Roman"/>
              </a:rPr>
              <a:t>λ1 = λ2 = 1e-7 for the scratch CNN; minimized via AdamW.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577840" y="4937760"/>
            <a:ext cx="3063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50992" y="4983480"/>
            <a:ext cx="2907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E123C"/>
                </a:solidFill>
                <a:latin typeface="Calibri"/>
              </a:rPr>
              <a:t>3. Fuzzy Match Score (RapidFuzz)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2C59"/>
                </a:solidFill>
                <a:latin typeface="Cambria"/>
              </a:rPr>
              <a:t>score = 100 · 2M / (|a| + |b|)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Times New Roman"/>
              </a:rPr>
              <a:t>Token-set similarity of OCR text vs. medicine name; accepted if ≥ 75.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000000"/>
                </a:solidFill>
                <a:latin typeface="Bookman Old Style"/>
              </a:rPr>
              <a:t>Methodology: Training &amp; Inference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804672"/>
            <a:ext cx="2514600" cy="658368"/>
          </a:xfrm>
          <a:prstGeom prst="round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Load Kaggle Datasets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train (3,120) | val (780) | test (780)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944368" y="1005840"/>
            <a:ext cx="274320" cy="256032"/>
          </a:xfrm>
          <a:prstGeom prst="rightArrow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73552" y="804672"/>
            <a:ext cx="2606040" cy="658368"/>
          </a:xfrm>
          <a:prstGeom prst="round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Two Recognition Paths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OCR + Fuzzy Match | CNN Classifiers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43600" y="1005840"/>
            <a:ext cx="274320" cy="256032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Diamond 28"/>
          <p:cNvSpPr/>
          <p:nvPr/>
        </p:nvSpPr>
        <p:spPr>
          <a:xfrm>
            <a:off x="6272784" y="713232"/>
            <a:ext cx="2505456" cy="841248"/>
          </a:xfrm>
          <a:prstGeom prst="diamond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Selection: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Train or Test?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1719072"/>
            <a:ext cx="4096512" cy="3749039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651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1719072"/>
            <a:ext cx="4096512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1773936"/>
            <a:ext cx="3877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BRANCH A: TRAINING &amp; VALIDATION (3,120 + 780 Images)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2194560"/>
            <a:ext cx="3694176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A1. Train &amp; Val Loaders (Batch Size = 32)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Resize 224×224, ImageNet Norm, Rotate / Flip / Jitter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2286000" y="2935224"/>
            <a:ext cx="256032" cy="182880"/>
          </a:xfrm>
          <a:prstGeom prst="down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154680"/>
            <a:ext cx="3694176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A2. Forward Pass: Pre-Trained CNN + New Head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ResNet-50, DenseNet-121, ElasticNet CNN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2286000" y="3895344"/>
            <a:ext cx="256032" cy="182880"/>
          </a:xfrm>
          <a:prstGeom prst="down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114800"/>
            <a:ext cx="3694176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A3. AdamW + Mixed Precision (3 Epochs)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Minimize Cross-Entropy &amp; Save Best Val ROC-AUC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507992" y="3474720"/>
            <a:ext cx="182880" cy="329184"/>
          </a:xfrm>
          <a:prstGeom prst="rightArrow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36592" y="1719072"/>
            <a:ext cx="4041648" cy="3749039"/>
          </a:xfrm>
          <a:prstGeom prst="roundRect">
            <a:avLst>
              <a:gd name="adj" fmla="val 3000"/>
            </a:avLst>
          </a:prstGeom>
          <a:solidFill>
            <a:srgbClr val="EEF2FF"/>
          </a:solidFill>
          <a:ln w="1651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36592" y="1719072"/>
            <a:ext cx="4041648" cy="36576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1773936"/>
            <a:ext cx="38221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BRANCH B: UNSEEN TESTING &amp; PREDICTION (780 Images)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0" y="2194560"/>
            <a:ext cx="3639312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B1. Test Loader + OCR Pass (Shuffle = False)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Resize 224×224 (Zero Augmentation) | Tesseract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6629400" y="2935224"/>
            <a:ext cx="256032" cy="182880"/>
          </a:xfrm>
          <a:prstGeom prst="downArrow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37760" y="3154680"/>
            <a:ext cx="3639312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B2. Multi-Metric Benchmark Evaluation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Accuracy, Macro F1, ROC-AUC &amp; Confusion Matrix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6629400" y="3895344"/>
            <a:ext cx="256032" cy="182880"/>
          </a:xfrm>
          <a:prstGeom prst="downArrow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37760" y="4114800"/>
            <a:ext cx="3639312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B3. Prescription Output: JSON Entities</a:t>
            </a:r>
          </a:p>
          <a:p>
            <a:pPr algn="ctr"/>
            <a:r>
              <a:rPr sz="950" b="0">
                <a:solidFill>
                  <a:srgbClr val="0F172A"/>
                </a:solidFill>
                <a:latin typeface="Calibri"/>
              </a:rPr>
              <a:t>DRUG, DOSAGE &amp; FREQUENCY per Image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5596128"/>
            <a:ext cx="8412480" cy="530352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397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687568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Leak-Free Evaluation Design:  </a:t>
            </a:r>
            <a:r>
              <a:rPr sz="1200" b="0">
                <a:solidFill>
                  <a:srgbClr val="0F172A"/>
                </a:solidFill>
                <a:latin typeface="Times New Roman"/>
              </a:rPr>
              <a:t>Test images are never augmented or used for checkpoint selection, so ResNet-50's 0.72 ROC-AUC and 8% accuracy are honest unseen-data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000000"/>
                </a:solidFill>
                <a:latin typeface="Bookman Old Style"/>
              </a:rPr>
              <a:t>Tools and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841248"/>
            <a:ext cx="2706624" cy="2487168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524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841248"/>
            <a:ext cx="2706624" cy="512064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896112"/>
            <a:ext cx="25237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1. Dataset &amp; Storage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Kaggle Datasets (GPU T4)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1463040"/>
            <a:ext cx="248716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4,680 handwritten medicine-name images, 78 classes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129 full prescription images (unlabelled)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Label CSVs + mapping.json with fixed splits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18688" y="841248"/>
            <a:ext cx="2706624" cy="2487168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18688" y="841248"/>
            <a:ext cx="2706624" cy="5120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896112"/>
            <a:ext cx="25237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2. Image Processing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OpenCV &amp; Pillow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8416" y="1463040"/>
            <a:ext cx="248716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Grayscale, bilateral filter, adaptive threshold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Morphological dilation + contour text regions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Bicubic upscaling of small text crops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71616" y="841248"/>
            <a:ext cx="2706624" cy="2487168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71616" y="841248"/>
            <a:ext cx="2706624" cy="5120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896112"/>
            <a:ext cx="25237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3. OCR &amp; Text Matching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Tesseract, RapidFuzz &amp; Regex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1463040"/>
            <a:ext cx="248716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pytesseract (--oem 3 --psm 6)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RapidFuzz token-set ratio (cutoff 75)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Regex NER for dosage and frequency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511296"/>
            <a:ext cx="2706624" cy="2487168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511296"/>
            <a:ext cx="2706624" cy="5120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566160"/>
            <a:ext cx="25237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4. Transfer Learning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PyTorch / torchvision Models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4133087"/>
            <a:ext cx="248716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ResNet-50 &amp; DenseNet-121 (ImageNet weights)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Frozen backbone with a new 78-way head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Scratch CNN with ElasticNet penalty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18688" y="3511296"/>
            <a:ext cx="2706624" cy="2487168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18688" y="3511296"/>
            <a:ext cx="2706624" cy="5120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0128" y="3566160"/>
            <a:ext cx="25237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5. Training Setup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AdamW + Mixed Precision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28416" y="4133087"/>
            <a:ext cx="248716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Batch 32, image size 224 × 224 × 3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LR 2e-4 (transfer) and 5e-4 (scratch CNN)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3 epochs, best val ROC-AUC checkpoint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71616" y="3511296"/>
            <a:ext cx="2706624" cy="248716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524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71616" y="3511296"/>
            <a:ext cx="2706624" cy="51206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63056" y="3566160"/>
            <a:ext cx="25237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6. Evaluation &amp; Plots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scikit-learn, Matplotlib &amp; HTML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344" y="4133087"/>
            <a:ext cx="248716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Accuracy, macro F1 &amp; ROC-AUC (one-vs-rest)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Confusion matrices and learning curves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Times New Roman"/>
              </a:rPr>
              <a:t>Interactive HTML results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000000"/>
                </a:solidFill>
                <a:latin typeface="Bookman Old Style"/>
              </a:rPr>
              <a:t>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11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65760" y="768096"/>
          <a:ext cx="8412480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51560"/>
                <a:gridCol w="1051560"/>
                <a:gridCol w="1143000"/>
                <a:gridCol w="1143000"/>
                <a:gridCol w="1188720"/>
                <a:gridCol w="1188720"/>
              </a:tblGrid>
              <a:tr h="34381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 AUC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 AUC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 AUC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 Macro F1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 Loss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ResNet-50 (Best)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0.8445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0.8329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9488"/>
                          </a:solidFill>
                          <a:latin typeface="Calibri"/>
                        </a:rPr>
                        <a:t>0.7215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0.0589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4.0685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DenseNet-121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0.7738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0.7688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0.6526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0.0312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4.0372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ElasticNet CNN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0.6628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0.7047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0.5592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0.0028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4.0777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38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Tesseract OCR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3.1%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4" name="Picture 23" descr="results_combined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578608"/>
            <a:ext cx="8412480" cy="25146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65760" y="5175504"/>
            <a:ext cx="1993392" cy="987552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397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5230368"/>
            <a:ext cx="184708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F2C59"/>
                </a:solidFill>
                <a:latin typeface="Calibri"/>
              </a:rPr>
              <a:t>OCR Baseline (n = 780)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24 / 780 Correct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Times New Roman"/>
              </a:rPr>
              <a:t>Acc: 3.1%  |  Random guess: 1.3%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5456" y="5175504"/>
            <a:ext cx="1993392" cy="987552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397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78608" y="5230368"/>
            <a:ext cx="184708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Calibri"/>
              </a:rPr>
              <a:t>ResNet-50 (n = 780)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Test AUC: 0.72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Times New Roman"/>
              </a:rPr>
              <a:t>Acc: 8%  |  Macro F1: 0.06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45152" y="5175504"/>
            <a:ext cx="1993392" cy="987552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4" y="5230368"/>
            <a:ext cx="184708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DenseNet-121 (n = 780)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Test AUC: 0.65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Times New Roman"/>
              </a:rPr>
              <a:t>Acc: 5%  |  Macro F1: 0.03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84848" y="5175504"/>
            <a:ext cx="1993392" cy="98755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397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5230368"/>
            <a:ext cx="184708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Dataset B (n = 60)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3 / 60 Hits (5%)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Times New Roman"/>
              </a:rPr>
              <a:t>Any vocabulary medicine matched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000000"/>
                </a:solidFill>
                <a:latin typeface="Bookman Old Style"/>
              </a:rPr>
              <a:t>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868680"/>
            <a:ext cx="2706624" cy="2450592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524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868680"/>
            <a:ext cx="2706624" cy="384048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932688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PHASE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" y="1380744"/>
            <a:ext cx="245059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F2C59"/>
                </a:solidFill>
                <a:latin typeface="Calibri"/>
              </a:rPr>
              <a:t>Handwriting OCR Models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Times New Roman"/>
              </a:rPr>
              <a:t>Replace Tesseract with CRNN + CTC or TrOCR fine-tuned on prescriptions to read any medicine name.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18688" y="868680"/>
            <a:ext cx="2706624" cy="2450592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18688" y="868680"/>
            <a:ext cx="2706624" cy="38404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932688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PHASE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6704" y="1380744"/>
            <a:ext cx="245059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284C7"/>
                </a:solidFill>
                <a:latin typeface="Calibri"/>
              </a:rPr>
              <a:t>Full Fine-Tuning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Times New Roman"/>
              </a:rPr>
              <a:t>Unfreeze deeper ResNet / DenseNet layers and train longer, since the curves show underfitting.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71616" y="868680"/>
            <a:ext cx="2706624" cy="2450592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71616" y="868680"/>
            <a:ext cx="2706624" cy="3840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932688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PHASE 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1380744"/>
            <a:ext cx="245059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Better Augmentation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Times New Roman"/>
              </a:rPr>
              <a:t>Drop horizontal flips (mirrored text) and use scaling, shearing, and elastic distortion suited to handwriting.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520439"/>
            <a:ext cx="2706624" cy="2450592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520439"/>
            <a:ext cx="2706624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584447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PHASE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4032504"/>
            <a:ext cx="245059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Labelled Prescriptions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Times New Roman"/>
              </a:rPr>
              <a:t>Annotate Dataset B so the full OCR + NER pipeline gets a true accuracy score, not just a hit rate.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18688" y="3520439"/>
            <a:ext cx="2706624" cy="2450592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18688" y="3520439"/>
            <a:ext cx="2706624" cy="3840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0128" y="3584447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PHASE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46704" y="4032504"/>
            <a:ext cx="245059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Pharmacist Web App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Times New Roman"/>
              </a:rPr>
              <a:t>Upload a prescription photo and get the top-3 medicine suggestions for a pharmacist to confirm.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71616" y="3520439"/>
            <a:ext cx="2706624" cy="245059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524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71616" y="3520439"/>
            <a:ext cx="2706624" cy="384048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63056" y="3584447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PHASE 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4032504"/>
            <a:ext cx="245059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BE123C"/>
                </a:solidFill>
                <a:latin typeface="Calibri"/>
              </a:rPr>
              <a:t>Explainable AI (Grad-CAM)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Times New Roman"/>
              </a:rPr>
              <a:t>Highlight which pen strokes drove each prediction so users can see when the model is only guessing.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000000"/>
                </a:solidFill>
                <a:latin typeface="Bookman Old Style"/>
              </a:rP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841248"/>
            <a:ext cx="5257800" cy="89611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397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841248"/>
            <a:ext cx="502920" cy="896112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1097280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914400"/>
            <a:ext cx="452628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2C59"/>
                </a:solidFill>
                <a:latin typeface="Calibri"/>
              </a:rPr>
              <a:t>Transfer Learning Beats OCR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ResNet-50 reached 0.72 test ROC-AUC versus 0.65 for DenseNet-121 and 0.56 for the scratch CNN, with only its head trained.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1865376"/>
            <a:ext cx="5257800" cy="896112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1865376"/>
            <a:ext cx="502920" cy="89611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12140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1938528"/>
            <a:ext cx="452628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Printed-Text OCR Fails on Handwriting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Tesseract + fuzzy matching scored 3.1% on 780 test images, barely above the 1.3% random-guess level.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2889504"/>
            <a:ext cx="5257800" cy="896112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 w="1397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889504"/>
            <a:ext cx="502920" cy="89611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1455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2962656"/>
            <a:ext cx="452628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Models Are Underfit, Not Overfit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Train and validation curves stayed close and were still improving at epoch 3, so longer fine-tuning is the clear next step.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913632"/>
            <a:ext cx="5257800" cy="89611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397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13632"/>
            <a:ext cx="502920" cy="89611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169664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3986784"/>
            <a:ext cx="452628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Reproducible End-to-End Pipeline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Fixed seeds, saved checkpoints, CSV / JSON outputs, and an HTML dashboard make every reported number traceable.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6440" y="841248"/>
            <a:ext cx="2971800" cy="396849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778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06440" y="841248"/>
            <a:ext cx="2971800" cy="438912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93268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FINAL PROJECT SCORECARD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61888" y="1408176"/>
            <a:ext cx="2660904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1463040"/>
            <a:ext cx="25146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0F2C59"/>
                </a:solidFill>
                <a:latin typeface="Calibri"/>
              </a:rPr>
              <a:t>4,680</a:t>
            </a:r>
          </a:p>
          <a:p>
            <a:pPr algn="ctr">
              <a:spcAft>
                <a:spcPts val="0"/>
              </a:spcAft>
            </a:pPr>
            <a:r>
              <a:rPr sz="1050" b="1">
                <a:solidFill>
                  <a:srgbClr val="475569"/>
                </a:solidFill>
                <a:latin typeface="Calibri"/>
              </a:rPr>
              <a:t>Labelled Word Images (78 Classes)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61888" y="2231136"/>
            <a:ext cx="2660904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2286000"/>
            <a:ext cx="25146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0.72</a:t>
            </a:r>
          </a:p>
          <a:p>
            <a:pPr algn="ctr">
              <a:spcAft>
                <a:spcPts val="0"/>
              </a:spcAft>
            </a:pPr>
            <a:r>
              <a:rPr sz="1050" b="1">
                <a:solidFill>
                  <a:srgbClr val="475569"/>
                </a:solidFill>
                <a:latin typeface="Calibri"/>
              </a:rPr>
              <a:t>Best Test ROC-AUC (ResNet-50)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61888" y="3054096"/>
            <a:ext cx="2660904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3108960"/>
            <a:ext cx="25146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0284C7"/>
                </a:solidFill>
                <a:latin typeface="Calibri"/>
              </a:rPr>
              <a:t>8%</a:t>
            </a:r>
          </a:p>
          <a:p>
            <a:pPr algn="ctr">
              <a:spcAft>
                <a:spcPts val="0"/>
              </a:spcAft>
            </a:pPr>
            <a:r>
              <a:rPr sz="1050" b="1">
                <a:solidFill>
                  <a:srgbClr val="475569"/>
                </a:solidFill>
                <a:latin typeface="Calibri"/>
              </a:rPr>
              <a:t>Best Test Accuracy (ResNet-50)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61888" y="3877056"/>
            <a:ext cx="2660904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3931920"/>
            <a:ext cx="25146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D97706"/>
                </a:solidFill>
                <a:latin typeface="Calibri"/>
              </a:rPr>
              <a:t>3.1%</a:t>
            </a:r>
          </a:p>
          <a:p>
            <a:pPr algn="ctr">
              <a:spcAft>
                <a:spcPts val="0"/>
              </a:spcAft>
            </a:pPr>
            <a:r>
              <a:rPr sz="1050" b="1">
                <a:solidFill>
                  <a:srgbClr val="475569"/>
                </a:solidFill>
                <a:latin typeface="Calibri"/>
              </a:rPr>
              <a:t>OCR-Match Accuracy (Tesseract)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010912"/>
            <a:ext cx="8412480" cy="1115568"/>
          </a:xfrm>
          <a:prstGeom prst="rect">
            <a:avLst/>
          </a:prstGeom>
          <a:solidFill>
            <a:srgbClr val="EEF2FF"/>
          </a:solidFill>
          <a:ln w="13970">
            <a:solidFill>
              <a:srgbClr val="0F2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5010912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5102352"/>
            <a:ext cx="8028431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2C59"/>
                </a:solidFill>
                <a:latin typeface="Calibri"/>
              </a:rPr>
              <a:t>Conclusion:  </a:t>
            </a:r>
            <a:r>
              <a:rPr sz="1250" b="0">
                <a:solidFill>
                  <a:srgbClr val="0F172A"/>
                </a:solidFill>
                <a:latin typeface="Times New Roman"/>
              </a:rPr>
              <a:t>Our comparative study shows that general-purpose OCR cannot read cursive prescriptions, while pre-trained CNNs, especially ResNet-50, learn useful handwriting features from only 40 images per class. Accuracy is still far from deployable, so this is a reproducible baseline for handwriting models such as CRNN or TrOCR.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000000"/>
                </a:solidFill>
                <a:latin typeface="Bookman Old Style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548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6FC4"/>
                </a:solidFill>
                <a:latin typeface="Calibri"/>
              </a:rPr>
              <a:t>[1]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7909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R. Plamondon and S. N. Srihari, "On-Line and Off-Line Handwriting Recognition: A Comprehensive Survey," IEEE Trans. Pattern Analysis and Machine Intelligence, vol. 22, no. 1, pp. 63-84, 2000.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36192"/>
            <a:ext cx="548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6FC4"/>
                </a:solidFill>
                <a:latin typeface="Calibri"/>
              </a:rPr>
              <a:t>[2]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7909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R. Smith, "An Overview of the Tesseract OCR Engine," in Proc. 9th Int. Conf. Document Analysis and Recognition (ICDAR), vol. 2, pp. 629-633, 2007.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03704"/>
            <a:ext cx="548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6FC4"/>
                </a:solidFill>
                <a:latin typeface="Calibri"/>
              </a:rPr>
              <a:t>[3]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7909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A. Graves, S. Fernández, F. Gomez, and J. Schmidhuber, "Connectionist Temporal Classification: Labelling Unsegmented Sequence Data with Recurrent Neural Networks," in Proc. ICML, pp. 369-376, 2006.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71215"/>
            <a:ext cx="548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6FC4"/>
                </a:solidFill>
                <a:latin typeface="Calibri"/>
              </a:rPr>
              <a:t>[4]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71215"/>
            <a:ext cx="7909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B. Shi, X. Bai, and C. Yao, "An End-to-End Trainable Neural Network for Image-Based Sequence Recognition and Its Application to Scene Text Recognition," IEEE Trans. PAMI, vol. 39, no. 11, pp. 2298-2304, 2017.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38728"/>
            <a:ext cx="548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6FC4"/>
                </a:solidFill>
                <a:latin typeface="Calibri"/>
              </a:rPr>
              <a:t>[5]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38728"/>
            <a:ext cx="7909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M. Li et al., "TrOCR: Transformer-Based Optical Character Recognition with Pre-trained Models," in Proc. AAAI Conf. Artificial Intelligence, vol. 37, no. 11, pp. 13094-13102, 2023.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06240"/>
            <a:ext cx="548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6FC4"/>
                </a:solidFill>
                <a:latin typeface="Calibri"/>
              </a:rPr>
              <a:t>[6]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7909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K. He, X. Zhang, S. Ren, and J. Sun, "Deep Residual Learning for Image Recognition," in Proc. IEEE Conf. Computer Vision and Pattern Recognition (CVPR), pp. 770-778, 2016.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73752"/>
            <a:ext cx="548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6FC4"/>
                </a:solidFill>
                <a:latin typeface="Calibri"/>
              </a:rPr>
              <a:t>[7]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73752"/>
            <a:ext cx="7909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G. Huang, Z. Liu, L. van der Maaten, and K. Q. Weinberger, "Densely Connected Convolutional Networks," in Proc. IEEE Conf. Computer Vision and Pattern Recognition (CVPR), pp. 2261-2269, 2017.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541264"/>
            <a:ext cx="548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6FC4"/>
                </a:solidFill>
                <a:latin typeface="Calibri"/>
              </a:rPr>
              <a:t>[8]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41264"/>
            <a:ext cx="7909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H. Zou and T. Hastie, "Regularization and Variable Selection via the Elastic Net," Journal of the Royal Statistical Society: Series B, vol. 67, no. 2, pp. 301-320, 2005.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06/10/2026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2026 - 2027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You...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Q&amp;A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3703320"/>
            <a:ext cx="859536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27432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06/10/2026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2026 - 2027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Prescription Recognition Using OCR and Deep Learning</dc:title>
  <dc:subject>PptxGenJS Presentation</dc:subject>
  <cp:revision>1</cp:revision>
  <dcterms:created xsi:type="dcterms:W3CDTF">2026-10-06T12:50:07Z</dcterms:created>
  <dcterms:modified xsi:type="dcterms:W3CDTF">2026-10-15T21:32:34Z</dcterms:modified>
</cp:coreProperties>
</file>